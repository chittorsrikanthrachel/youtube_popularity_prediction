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7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4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9" d="100"/>
          <a:sy n="79" d="100"/>
        </p:scale>
        <p:origin x="18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8766E9-5C3A-4403-AC13-3C990B105B75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A827A-2D78-4D4C-BC3B-C129A9346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61428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8766E9-5C3A-4403-AC13-3C990B105B75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A827A-2D78-4D4C-BC3B-C129A9346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74951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8766E9-5C3A-4403-AC13-3C990B105B75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A827A-2D78-4D4C-BC3B-C129A9346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3791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8766E9-5C3A-4403-AC13-3C990B105B75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A827A-2D78-4D4C-BC3B-C129A9346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6571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8766E9-5C3A-4403-AC13-3C990B105B75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A827A-2D78-4D4C-BC3B-C129A9346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86918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8766E9-5C3A-4403-AC13-3C990B105B75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A827A-2D78-4D4C-BC3B-C129A9346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11152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8766E9-5C3A-4403-AC13-3C990B105B75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A827A-2D78-4D4C-BC3B-C129A9346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27850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8766E9-5C3A-4403-AC13-3C990B105B75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A827A-2D78-4D4C-BC3B-C129A9346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22127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8766E9-5C3A-4403-AC13-3C990B105B75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A827A-2D78-4D4C-BC3B-C129A9346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01760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8766E9-5C3A-4403-AC13-3C990B105B75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A827A-2D78-4D4C-BC3B-C129A9346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17414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8766E9-5C3A-4403-AC13-3C990B105B75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A827A-2D78-4D4C-BC3B-C129A9346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74965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8766E9-5C3A-4403-AC13-3C990B105B75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BA827A-2D78-4D4C-BC3B-C129A9346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51073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32297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90512" y="671660"/>
            <a:ext cx="10751271" cy="551468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857837" y="843677"/>
            <a:ext cx="10416619" cy="517064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6200" b="1" dirty="0" smtClean="0">
                <a:solidFill>
                  <a:schemeClr val="accent1">
                    <a:lumMod val="75000"/>
                  </a:schemeClr>
                </a:solidFill>
                <a:latin typeface="Maiandra GD" panose="020E0502030308020204" pitchFamily="34" charset="0"/>
              </a:rPr>
              <a:t>YouTube Popularity Prediction - A Machine Learning Driven Approach</a:t>
            </a:r>
            <a:endParaRPr lang="en-US" sz="6200" b="1" dirty="0">
              <a:solidFill>
                <a:schemeClr val="accent1">
                  <a:lumMod val="75000"/>
                </a:schemeClr>
              </a:solidFill>
              <a:latin typeface="Maiandra GD" panose="020E0502030308020204" pitchFamily="34" charset="0"/>
            </a:endParaRPr>
          </a:p>
          <a:p>
            <a:endParaRPr lang="en-US" sz="1600" dirty="0" smtClean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en-US" sz="1600" dirty="0" smtClean="0">
                <a:solidFill>
                  <a:schemeClr val="accent1">
                    <a:lumMod val="75000"/>
                  </a:schemeClr>
                </a:solidFill>
              </a:rPr>
              <a:t>								</a:t>
            </a:r>
          </a:p>
          <a:p>
            <a:endParaRPr lang="en-US" sz="1600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en-US" sz="1600" dirty="0" smtClean="0">
                <a:solidFill>
                  <a:schemeClr val="accent1">
                    <a:lumMod val="75000"/>
                  </a:schemeClr>
                </a:solidFill>
              </a:rPr>
              <a:t>								</a:t>
            </a:r>
            <a:r>
              <a:rPr lang="en-US" sz="2400" dirty="0" smtClean="0">
                <a:solidFill>
                  <a:schemeClr val="accent1">
                    <a:lumMod val="75000"/>
                  </a:schemeClr>
                </a:solidFill>
                <a:latin typeface="Maiandra GD" panose="020E0502030308020204" pitchFamily="34" charset="0"/>
              </a:rPr>
              <a:t>C.S.RACHEL</a:t>
            </a:r>
          </a:p>
          <a:p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Maiandra GD" panose="020E0502030308020204" pitchFamily="34" charset="0"/>
              </a:rPr>
              <a:t>	</a:t>
            </a:r>
            <a:r>
              <a:rPr lang="en-US" sz="2400" dirty="0" smtClean="0">
                <a:solidFill>
                  <a:schemeClr val="accent1">
                    <a:lumMod val="75000"/>
                  </a:schemeClr>
                </a:solidFill>
                <a:latin typeface="Maiandra GD" panose="020E0502030308020204" pitchFamily="34" charset="0"/>
              </a:rPr>
              <a:t>							121324030005</a:t>
            </a:r>
            <a:endParaRPr lang="en-US" sz="2400" dirty="0">
              <a:solidFill>
                <a:schemeClr val="accent1">
                  <a:lumMod val="75000"/>
                </a:schemeClr>
              </a:solidFill>
              <a:latin typeface="Maiandra GD" panose="020E0502030308020204" pitchFamily="34" charset="0"/>
            </a:endParaRPr>
          </a:p>
          <a:p>
            <a:endParaRPr lang="en-US" sz="1600" dirty="0" smtClean="0">
              <a:solidFill>
                <a:schemeClr val="accent1">
                  <a:lumMod val="75000"/>
                </a:schemeClr>
              </a:solidFill>
            </a:endParaRPr>
          </a:p>
          <a:p>
            <a:endParaRPr lang="en-US" sz="1600" dirty="0">
              <a:solidFill>
                <a:schemeClr val="accent1">
                  <a:lumMod val="75000"/>
                </a:schemeClr>
              </a:solidFill>
            </a:endParaRPr>
          </a:p>
          <a:p>
            <a:endParaRPr lang="en-US" sz="1600" dirty="0" smtClean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07775241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32297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90512" y="671660"/>
            <a:ext cx="10751271" cy="551468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857837" y="855482"/>
            <a:ext cx="10416619" cy="514703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1065229" y="1065229"/>
            <a:ext cx="994527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b="1" dirty="0" smtClean="0">
                <a:solidFill>
                  <a:schemeClr val="accent1">
                    <a:lumMod val="75000"/>
                  </a:schemeClr>
                </a:solidFill>
                <a:latin typeface="Maiandra GD" panose="020E0502030308020204" pitchFamily="34" charset="0"/>
              </a:rPr>
              <a:t>TABLE OF CONTENTS</a:t>
            </a:r>
            <a:endParaRPr lang="en-US" sz="5400" b="1" dirty="0">
              <a:solidFill>
                <a:schemeClr val="accent1">
                  <a:lumMod val="75000"/>
                </a:schemeClr>
              </a:solidFill>
              <a:latin typeface="Maiandra GD" panose="020E050203030802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65229" y="1988559"/>
            <a:ext cx="4458878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smtClean="0">
                <a:solidFill>
                  <a:schemeClr val="accent1">
                    <a:lumMod val="75000"/>
                  </a:schemeClr>
                </a:solidFill>
                <a:latin typeface="Maiandra GD" panose="020E0502030308020204" pitchFamily="34" charset="0"/>
              </a:rPr>
              <a:t>ABSTRACT                                          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smtClean="0">
                <a:solidFill>
                  <a:schemeClr val="accent1">
                    <a:lumMod val="75000"/>
                  </a:schemeClr>
                </a:solidFill>
                <a:latin typeface="Maiandra GD" panose="020E0502030308020204" pitchFamily="34" charset="0"/>
              </a:rPr>
              <a:t>PROBLEM STATEMENT                       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smtClean="0">
                <a:solidFill>
                  <a:schemeClr val="accent1">
                    <a:lumMod val="75000"/>
                  </a:schemeClr>
                </a:solidFill>
                <a:latin typeface="Maiandra GD" panose="020E0502030308020204" pitchFamily="34" charset="0"/>
              </a:rPr>
              <a:t>OBJECTIVES                                         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smtClean="0">
                <a:solidFill>
                  <a:schemeClr val="accent1">
                    <a:lumMod val="75000"/>
                  </a:schemeClr>
                </a:solidFill>
                <a:latin typeface="Maiandra GD" panose="020E0502030308020204" pitchFamily="34" charset="0"/>
              </a:rPr>
              <a:t>APPLICABILITY &amp; SCOPE      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smtClean="0">
                <a:solidFill>
                  <a:schemeClr val="accent1">
                    <a:lumMod val="75000"/>
                  </a:schemeClr>
                </a:solidFill>
                <a:latin typeface="Maiandra GD" panose="020E0502030308020204" pitchFamily="34" charset="0"/>
              </a:rPr>
              <a:t>METHODOLOGY                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smtClean="0">
                <a:solidFill>
                  <a:schemeClr val="accent1">
                    <a:lumMod val="75000"/>
                  </a:schemeClr>
                </a:solidFill>
                <a:latin typeface="Maiandra GD" panose="020E0502030308020204" pitchFamily="34" charset="0"/>
              </a:rPr>
              <a:t>DATASET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smtClean="0">
                <a:solidFill>
                  <a:schemeClr val="accent1">
                    <a:lumMod val="75000"/>
                  </a:schemeClr>
                </a:solidFill>
                <a:latin typeface="Maiandra GD" panose="020E0502030308020204" pitchFamily="34" charset="0"/>
              </a:rPr>
              <a:t>DATA PRE-PROCESSING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smtClean="0">
                <a:solidFill>
                  <a:schemeClr val="accent1">
                    <a:lumMod val="75000"/>
                  </a:schemeClr>
                </a:solidFill>
                <a:latin typeface="Maiandra GD" panose="020E0502030308020204" pitchFamily="34" charset="0"/>
              </a:rPr>
              <a:t>SYSTEM MODULES</a:t>
            </a:r>
            <a:endParaRPr lang="en-US" sz="2000" dirty="0">
              <a:solidFill>
                <a:schemeClr val="accent1">
                  <a:lumMod val="75000"/>
                </a:schemeClr>
              </a:solidFill>
              <a:latin typeface="Maiandra GD" panose="020E0502030308020204" pitchFamily="34" charset="0"/>
            </a:endParaRPr>
          </a:p>
        </p:txBody>
      </p:sp>
      <p:sp>
        <p:nvSpPr>
          <p:cNvPr id="130" name="TextBox 129"/>
          <p:cNvSpPr txBox="1"/>
          <p:nvPr/>
        </p:nvSpPr>
        <p:spPr>
          <a:xfrm>
            <a:off x="6004874" y="1988559"/>
            <a:ext cx="5005633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smtClean="0">
                <a:solidFill>
                  <a:schemeClr val="accent1">
                    <a:lumMod val="75000"/>
                  </a:schemeClr>
                </a:solidFill>
                <a:latin typeface="Maiandra GD" panose="020E0502030308020204" pitchFamily="34" charset="0"/>
              </a:rPr>
              <a:t>CHATBOT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smtClean="0">
                <a:solidFill>
                  <a:schemeClr val="accent1">
                    <a:lumMod val="75000"/>
                  </a:schemeClr>
                </a:solidFill>
                <a:latin typeface="Maiandra GD" panose="020E0502030308020204" pitchFamily="34" charset="0"/>
              </a:rPr>
              <a:t>VIEWS PREDICTION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smtClean="0">
                <a:solidFill>
                  <a:schemeClr val="accent1">
                    <a:lumMod val="75000"/>
                  </a:schemeClr>
                </a:solidFill>
                <a:latin typeface="Maiandra GD" panose="020E0502030308020204" pitchFamily="34" charset="0"/>
              </a:rPr>
              <a:t>LIKES PREDICTION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smtClean="0">
                <a:solidFill>
                  <a:schemeClr val="accent1">
                    <a:lumMod val="75000"/>
                  </a:schemeClr>
                </a:solidFill>
                <a:latin typeface="Maiandra GD" panose="020E0502030308020204" pitchFamily="34" charset="0"/>
              </a:rPr>
              <a:t>HASHTAG RECOMMENDATION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smtClean="0">
                <a:solidFill>
                  <a:schemeClr val="accent1">
                    <a:lumMod val="75000"/>
                  </a:schemeClr>
                </a:solidFill>
                <a:latin typeface="Maiandra GD" panose="020E0502030308020204" pitchFamily="34" charset="0"/>
              </a:rPr>
              <a:t>SHOW INSIGHTS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smtClean="0">
                <a:solidFill>
                  <a:schemeClr val="accent1">
                    <a:lumMod val="75000"/>
                  </a:schemeClr>
                </a:solidFill>
                <a:latin typeface="Maiandra GD" panose="020E0502030308020204" pitchFamily="34" charset="0"/>
              </a:rPr>
              <a:t>CONCLUSION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smtClean="0">
                <a:solidFill>
                  <a:schemeClr val="accent1">
                    <a:lumMod val="75000"/>
                  </a:schemeClr>
                </a:solidFill>
                <a:latin typeface="Maiandra GD" panose="020E0502030308020204" pitchFamily="34" charset="0"/>
              </a:rPr>
              <a:t>FUTURE SCOPE</a:t>
            </a:r>
            <a:endParaRPr lang="en-US" sz="2000" dirty="0">
              <a:solidFill>
                <a:schemeClr val="accent1">
                  <a:lumMod val="75000"/>
                </a:schemeClr>
              </a:solidFill>
              <a:latin typeface="Maiandra GD" panose="020E0502030308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83414495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32297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90512" y="671660"/>
            <a:ext cx="10751271" cy="551468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857837" y="855482"/>
            <a:ext cx="10416619" cy="514703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1065229" y="1121790"/>
            <a:ext cx="992642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b="1" dirty="0" smtClean="0">
                <a:solidFill>
                  <a:schemeClr val="accent1">
                    <a:lumMod val="75000"/>
                  </a:schemeClr>
                </a:solidFill>
                <a:latin typeface="Maiandra GD" panose="020E0502030308020204" pitchFamily="34" charset="0"/>
              </a:rPr>
              <a:t>ABSTRACT</a:t>
            </a:r>
          </a:p>
          <a:p>
            <a:pPr algn="ctr"/>
            <a:endParaRPr lang="en-US" sz="54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18094" y="2215299"/>
            <a:ext cx="10020693" cy="3269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smtClean="0">
                <a:solidFill>
                  <a:schemeClr val="accent1">
                    <a:lumMod val="75000"/>
                  </a:schemeClr>
                </a:solidFill>
                <a:latin typeface="Maiandra GD" panose="020E0502030308020204" pitchFamily="34" charset="0"/>
              </a:rPr>
              <a:t>This project focuses on predicting the popularity of YouTube videos using machine learning techniques. 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smtClean="0">
                <a:solidFill>
                  <a:schemeClr val="accent1">
                    <a:lumMod val="75000"/>
                  </a:schemeClr>
                </a:solidFill>
                <a:latin typeface="Maiandra GD" panose="020E0502030308020204" pitchFamily="34" charset="0"/>
              </a:rPr>
              <a:t>The system estimates video views and likes, recommends relevant hashtags, and provides analytical insights to support data-driven decision-making for content creators. 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smtClean="0">
                <a:solidFill>
                  <a:schemeClr val="accent1">
                    <a:lumMod val="75000"/>
                  </a:schemeClr>
                </a:solidFill>
                <a:latin typeface="Maiandra GD" panose="020E0502030308020204" pitchFamily="34" charset="0"/>
              </a:rPr>
              <a:t>It integrates multiple prediction models, visualization tools, and a </a:t>
            </a:r>
            <a:r>
              <a:rPr lang="en-US" sz="2000" dirty="0" err="1" smtClean="0">
                <a:solidFill>
                  <a:schemeClr val="accent1">
                    <a:lumMod val="75000"/>
                  </a:schemeClr>
                </a:solidFill>
                <a:latin typeface="Maiandra GD" panose="020E0502030308020204" pitchFamily="34" charset="0"/>
              </a:rPr>
              <a:t>chatbot</a:t>
            </a:r>
            <a:r>
              <a:rPr lang="en-US" sz="2000" dirty="0" smtClean="0">
                <a:solidFill>
                  <a:schemeClr val="accent1">
                    <a:lumMod val="75000"/>
                  </a:schemeClr>
                </a:solidFill>
                <a:latin typeface="Maiandra GD" panose="020E0502030308020204" pitchFamily="34" charset="0"/>
              </a:rPr>
              <a:t>-based interface to enhance usability and performance analysis.</a:t>
            </a:r>
            <a:endParaRPr lang="en-US" sz="2000" dirty="0">
              <a:solidFill>
                <a:schemeClr val="accent1">
                  <a:lumMod val="75000"/>
                </a:schemeClr>
              </a:solidFill>
              <a:latin typeface="Maiandra GD" panose="020E0502030308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9711560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32297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90512" y="671660"/>
            <a:ext cx="10751271" cy="551468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857837" y="855482"/>
            <a:ext cx="10416619" cy="514703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1201915" y="989815"/>
            <a:ext cx="972846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b="1" dirty="0" smtClean="0">
                <a:solidFill>
                  <a:schemeClr val="accent1">
                    <a:lumMod val="75000"/>
                  </a:schemeClr>
                </a:solidFill>
                <a:latin typeface="Maiandra GD" panose="020E0502030308020204" pitchFamily="34" charset="0"/>
              </a:rPr>
              <a:t>PROBLEM STATEMENT</a:t>
            </a:r>
            <a:endParaRPr lang="en-US" sz="5400" b="1" dirty="0">
              <a:solidFill>
                <a:schemeClr val="accent1">
                  <a:lumMod val="75000"/>
                </a:schemeClr>
              </a:solidFill>
              <a:latin typeface="Maiandra GD" panose="020E050203030802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121787" y="2290180"/>
            <a:ext cx="9888717" cy="3269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smtClean="0">
                <a:solidFill>
                  <a:schemeClr val="accent1">
                    <a:lumMod val="75000"/>
                  </a:schemeClr>
                </a:solidFill>
                <a:latin typeface="Maiandra GD" panose="020E0502030308020204" pitchFamily="34" charset="0"/>
              </a:rPr>
              <a:t>YouTube content creators often lack reliable tools to accurately predict video performance before publishing.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smtClean="0">
                <a:solidFill>
                  <a:schemeClr val="accent1">
                    <a:lumMod val="75000"/>
                  </a:schemeClr>
                </a:solidFill>
                <a:latin typeface="Maiandra GD" panose="020E0502030308020204" pitchFamily="34" charset="0"/>
              </a:rPr>
              <a:t>Manual analysis of engagement metrics is time-consuming and does not provide actionable insights.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smtClean="0">
                <a:solidFill>
                  <a:schemeClr val="accent1">
                    <a:lumMod val="75000"/>
                  </a:schemeClr>
                </a:solidFill>
                <a:latin typeface="Maiandra GD" panose="020E0502030308020204" pitchFamily="34" charset="0"/>
              </a:rPr>
              <a:t>There is a need for an intelligent system that can forecast views and likes, recommend hashtags, and provide meaningful insights to improve content strategy.</a:t>
            </a:r>
          </a:p>
          <a:p>
            <a:pPr>
              <a:lnSpc>
                <a:spcPct val="150000"/>
              </a:lnSpc>
            </a:pPr>
            <a:endParaRPr lang="en-US" sz="2000" dirty="0">
              <a:solidFill>
                <a:schemeClr val="accent1">
                  <a:lumMod val="75000"/>
                </a:schemeClr>
              </a:solidFill>
              <a:latin typeface="Maiandra GD" panose="020E0502030308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2109611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32297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90512" y="671660"/>
            <a:ext cx="10751271" cy="551468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857837" y="855482"/>
            <a:ext cx="10416619" cy="514703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1027522" y="1027522"/>
            <a:ext cx="1008668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b="1" dirty="0" smtClean="0">
                <a:solidFill>
                  <a:schemeClr val="accent1">
                    <a:lumMod val="75000"/>
                  </a:schemeClr>
                </a:solidFill>
                <a:latin typeface="Maiandra GD" panose="020E0502030308020204" pitchFamily="34" charset="0"/>
              </a:rPr>
              <a:t>OBJECTIVES</a:t>
            </a:r>
            <a:endParaRPr lang="en-US" sz="5400" b="1" dirty="0">
              <a:solidFill>
                <a:schemeClr val="accent1">
                  <a:lumMod val="75000"/>
                </a:schemeClr>
              </a:solidFill>
              <a:latin typeface="Maiandra GD" panose="020E050203030802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27522" y="2252510"/>
            <a:ext cx="9992412" cy="3078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 smtClean="0">
                <a:solidFill>
                  <a:schemeClr val="accent1">
                    <a:lumMod val="75000"/>
                  </a:schemeClr>
                </a:solidFill>
                <a:latin typeface="Maiandra GD" panose="020E0502030308020204" pitchFamily="34" charset="0"/>
              </a:rPr>
              <a:t>To predict the number of views of a YouTube video using machine learning models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 smtClean="0">
                <a:solidFill>
                  <a:schemeClr val="accent1">
                    <a:lumMod val="75000"/>
                  </a:schemeClr>
                </a:solidFill>
                <a:latin typeface="Maiandra GD" panose="020E0502030308020204" pitchFamily="34" charset="0"/>
              </a:rPr>
              <a:t>To predict the number of likes based on early engagement and content features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 smtClean="0">
                <a:solidFill>
                  <a:schemeClr val="accent1">
                    <a:lumMod val="75000"/>
                  </a:schemeClr>
                </a:solidFill>
                <a:latin typeface="Maiandra GD" panose="020E0502030308020204" pitchFamily="34" charset="0"/>
              </a:rPr>
              <a:t>To recommend suitable hashtags to improve video discoverability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accent1">
                    <a:lumMod val="75000"/>
                  </a:schemeClr>
                </a:solidFill>
                <a:latin typeface="Maiandra GD" panose="020E0502030308020204" pitchFamily="34" charset="0"/>
              </a:rPr>
              <a:t>T</a:t>
            </a:r>
            <a:r>
              <a:rPr lang="en-US" sz="2200" dirty="0" smtClean="0">
                <a:solidFill>
                  <a:schemeClr val="accent1">
                    <a:lumMod val="75000"/>
                  </a:schemeClr>
                </a:solidFill>
                <a:latin typeface="Maiandra GD" panose="020E0502030308020204" pitchFamily="34" charset="0"/>
              </a:rPr>
              <a:t>o provide insights and visualizations for better content planning</a:t>
            </a:r>
            <a:endParaRPr lang="en-US" sz="2200" dirty="0">
              <a:solidFill>
                <a:schemeClr val="accent1">
                  <a:lumMod val="75000"/>
                </a:schemeClr>
              </a:solidFill>
              <a:latin typeface="Maiandra GD" panose="020E0502030308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5431451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32297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90512" y="671660"/>
            <a:ext cx="10751271" cy="551468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857837" y="855482"/>
            <a:ext cx="10416619" cy="514703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1008668" y="1131216"/>
            <a:ext cx="101149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 smtClean="0">
                <a:solidFill>
                  <a:schemeClr val="accent1">
                    <a:lumMod val="75000"/>
                  </a:schemeClr>
                </a:solidFill>
                <a:latin typeface="Maiandra GD" panose="020E0502030308020204" pitchFamily="34" charset="0"/>
              </a:rPr>
              <a:t>APPLICABILITY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Maiandra GD" panose="020E050203030802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259397" y="1131216"/>
            <a:ext cx="50150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36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08668" y="1777547"/>
            <a:ext cx="6146276" cy="12894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chemeClr val="accent1">
                    <a:lumMod val="75000"/>
                  </a:schemeClr>
                </a:solidFill>
                <a:latin typeface="Maiandra GD" panose="020E0502030308020204" pitchFamily="34" charset="0"/>
              </a:rPr>
              <a:t>YouTube content creators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chemeClr val="accent1">
                    <a:lumMod val="75000"/>
                  </a:schemeClr>
                </a:solidFill>
                <a:latin typeface="Maiandra GD" panose="020E0502030308020204" pitchFamily="34" charset="0"/>
              </a:rPr>
              <a:t>Digital marketing and media analytics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chemeClr val="accent1">
                    <a:lumMod val="75000"/>
                  </a:schemeClr>
                </a:solidFill>
                <a:latin typeface="Maiandra GD" panose="020E0502030308020204" pitchFamily="34" charset="0"/>
              </a:rPr>
              <a:t>Educational and research purposes</a:t>
            </a:r>
            <a:endParaRPr lang="en-US" dirty="0">
              <a:solidFill>
                <a:schemeClr val="accent1">
                  <a:lumMod val="75000"/>
                </a:schemeClr>
              </a:solidFill>
              <a:latin typeface="Maiandra GD" panose="020E0502030308020204" pitchFamily="3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57837" y="3153888"/>
            <a:ext cx="1004897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 smtClean="0">
                <a:solidFill>
                  <a:schemeClr val="accent1">
                    <a:lumMod val="75000"/>
                  </a:schemeClr>
                </a:solidFill>
                <a:latin typeface="Maiandra GD" panose="020E0502030308020204" pitchFamily="34" charset="0"/>
              </a:rPr>
              <a:t>SCOPE</a:t>
            </a:r>
            <a:endParaRPr lang="en-US" sz="3200" b="1" dirty="0">
              <a:solidFill>
                <a:schemeClr val="accent1">
                  <a:lumMod val="75000"/>
                </a:schemeClr>
              </a:solidFill>
              <a:latin typeface="Maiandra GD" panose="020E0502030308020204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08668" y="4242062"/>
            <a:ext cx="9935852" cy="1559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970958" y="3806551"/>
            <a:ext cx="993585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chemeClr val="accent1">
                    <a:lumMod val="75000"/>
                  </a:schemeClr>
                </a:solidFill>
                <a:latin typeface="Maiandra GD" panose="020E0502030308020204" pitchFamily="34" charset="0"/>
              </a:rPr>
              <a:t>View prediction using ensemble machine learning models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chemeClr val="accent1">
                    <a:lumMod val="75000"/>
                  </a:schemeClr>
                </a:solidFill>
                <a:latin typeface="Maiandra GD" panose="020E0502030308020204" pitchFamily="34" charset="0"/>
              </a:rPr>
              <a:t>Likes prediction using engagement metrics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chemeClr val="accent1">
                    <a:lumMod val="75000"/>
                  </a:schemeClr>
                </a:solidFill>
                <a:latin typeface="Maiandra GD" panose="020E0502030308020204" pitchFamily="34" charset="0"/>
              </a:rPr>
              <a:t>Hashtag recommendation using dictionary-based approach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Maiandra GD" panose="020E0502030308020204" pitchFamily="34" charset="0"/>
              </a:rPr>
              <a:t>I</a:t>
            </a:r>
            <a:r>
              <a:rPr lang="en-US" dirty="0" smtClean="0">
                <a:solidFill>
                  <a:schemeClr val="accent1">
                    <a:lumMod val="75000"/>
                  </a:schemeClr>
                </a:solidFill>
                <a:latin typeface="Maiandra GD" panose="020E0502030308020204" pitchFamily="34" charset="0"/>
              </a:rPr>
              <a:t>nsights such as best time to upload and engagement analysis</a:t>
            </a:r>
            <a:endParaRPr lang="en-US" dirty="0">
              <a:solidFill>
                <a:schemeClr val="accent1">
                  <a:lumMod val="75000"/>
                </a:schemeClr>
              </a:solidFill>
              <a:latin typeface="Maiandra GD" panose="020E0502030308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7247316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32297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90512" y="671660"/>
            <a:ext cx="10751271" cy="551468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857837" y="855482"/>
            <a:ext cx="10416619" cy="514703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1008668" y="1131216"/>
            <a:ext cx="101149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 smtClean="0">
                <a:solidFill>
                  <a:schemeClr val="accent1">
                    <a:lumMod val="75000"/>
                  </a:schemeClr>
                </a:solidFill>
                <a:latin typeface="Maiandra GD" panose="020E0502030308020204" pitchFamily="34" charset="0"/>
              </a:rPr>
              <a:t>METHODOLOGY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Maiandra GD" panose="020E050203030802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259397" y="1131216"/>
            <a:ext cx="50150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36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08668" y="1904873"/>
            <a:ext cx="6146276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 smtClean="0">
                <a:solidFill>
                  <a:schemeClr val="accent1">
                    <a:lumMod val="75000"/>
                  </a:schemeClr>
                </a:solidFill>
                <a:latin typeface="Maiandra GD" panose="020E0502030308020204" pitchFamily="34" charset="0"/>
              </a:rPr>
              <a:t>Data collection using YouTube API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 smtClean="0">
                <a:solidFill>
                  <a:schemeClr val="accent1">
                    <a:lumMod val="75000"/>
                  </a:schemeClr>
                </a:solidFill>
                <a:latin typeface="Maiandra GD" panose="020E0502030308020204" pitchFamily="34" charset="0"/>
              </a:rPr>
              <a:t>Data cleaning and preprocessing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 smtClean="0">
                <a:solidFill>
                  <a:schemeClr val="accent1">
                    <a:lumMod val="75000"/>
                  </a:schemeClr>
                </a:solidFill>
                <a:latin typeface="Maiandra GD" panose="020E0502030308020204" pitchFamily="34" charset="0"/>
              </a:rPr>
              <a:t>Feature engineering and selection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 smtClean="0">
                <a:solidFill>
                  <a:schemeClr val="accent1">
                    <a:lumMod val="75000"/>
                  </a:schemeClr>
                </a:solidFill>
                <a:latin typeface="Maiandra GD" panose="020E0502030308020204" pitchFamily="34" charset="0"/>
              </a:rPr>
              <a:t>Model training and validation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 smtClean="0">
                <a:solidFill>
                  <a:schemeClr val="accent1">
                    <a:lumMod val="75000"/>
                  </a:schemeClr>
                </a:solidFill>
                <a:latin typeface="Maiandra GD" panose="020E0502030308020204" pitchFamily="34" charset="0"/>
              </a:rPr>
              <a:t>Prediction of views and likes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 smtClean="0">
                <a:solidFill>
                  <a:schemeClr val="accent1">
                    <a:lumMod val="75000"/>
                  </a:schemeClr>
                </a:solidFill>
                <a:latin typeface="Maiandra GD" panose="020E0502030308020204" pitchFamily="34" charset="0"/>
              </a:rPr>
              <a:t>Recommend relevant hashtags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 smtClean="0">
                <a:solidFill>
                  <a:schemeClr val="accent1">
                    <a:lumMod val="75000"/>
                  </a:schemeClr>
                </a:solidFill>
                <a:latin typeface="Maiandra GD" panose="020E0502030308020204" pitchFamily="34" charset="0"/>
              </a:rPr>
              <a:t>Insights generation and visualization</a:t>
            </a:r>
            <a:endParaRPr lang="en-US" sz="2400" dirty="0">
              <a:solidFill>
                <a:schemeClr val="accent1">
                  <a:lumMod val="75000"/>
                </a:schemeClr>
              </a:solidFill>
              <a:latin typeface="Maiandra GD" panose="020E0502030308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3151543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32297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90512" y="671660"/>
            <a:ext cx="10751271" cy="551468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857837" y="855482"/>
            <a:ext cx="10416619" cy="514703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1027522" y="1074656"/>
            <a:ext cx="995470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b="1" dirty="0" smtClean="0">
                <a:solidFill>
                  <a:schemeClr val="accent1">
                    <a:lumMod val="75000"/>
                  </a:schemeClr>
                </a:solidFill>
                <a:latin typeface="Maiandra GD" panose="020E0502030308020204" pitchFamily="34" charset="0"/>
              </a:rPr>
              <a:t>DATASETS</a:t>
            </a:r>
            <a:endParaRPr lang="en-US" sz="5400" b="1" dirty="0">
              <a:solidFill>
                <a:schemeClr val="accent1">
                  <a:lumMod val="75000"/>
                </a:schemeClr>
              </a:solidFill>
              <a:latin typeface="Maiandra GD" panose="020E050203030802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46375" y="2090431"/>
            <a:ext cx="9916998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 smtClean="0">
                <a:solidFill>
                  <a:schemeClr val="accent1">
                    <a:lumMod val="75000"/>
                  </a:schemeClr>
                </a:solidFill>
                <a:latin typeface="Maiandra GD" panose="020E0502030308020204" pitchFamily="34" charset="0"/>
              </a:rPr>
              <a:t>Dataset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 smtClean="0">
                <a:solidFill>
                  <a:schemeClr val="accent1">
                    <a:lumMod val="75000"/>
                  </a:schemeClr>
                </a:solidFill>
                <a:latin typeface="Maiandra GD" panose="020E0502030308020204" pitchFamily="34" charset="0"/>
              </a:rPr>
              <a:t>Self-collected data using YouTube Data API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 smtClean="0">
                <a:solidFill>
                  <a:schemeClr val="accent1">
                    <a:lumMod val="75000"/>
                  </a:schemeClr>
                </a:solidFill>
                <a:latin typeface="Maiandra GD" panose="020E0502030308020204" pitchFamily="34" charset="0"/>
              </a:rPr>
              <a:t>Two datasets:</a:t>
            </a:r>
          </a:p>
          <a:p>
            <a:pPr>
              <a:lnSpc>
                <a:spcPct val="150000"/>
              </a:lnSpc>
            </a:pPr>
            <a:r>
              <a:rPr lang="en-US" sz="1600" dirty="0" smtClean="0">
                <a:solidFill>
                  <a:schemeClr val="accent1">
                    <a:lumMod val="75000"/>
                  </a:schemeClr>
                </a:solidFill>
                <a:latin typeface="Maiandra GD" panose="020E0502030308020204" pitchFamily="34" charset="0"/>
              </a:rPr>
              <a:t>	Views prediction dataset (~5000 records)</a:t>
            </a:r>
          </a:p>
          <a:p>
            <a:pPr>
              <a:lnSpc>
                <a:spcPct val="150000"/>
              </a:lnSpc>
            </a:pPr>
            <a:r>
              <a:rPr lang="en-US" sz="1600" dirty="0" smtClean="0">
                <a:solidFill>
                  <a:schemeClr val="accent1">
                    <a:lumMod val="75000"/>
                  </a:schemeClr>
                </a:solidFill>
                <a:latin typeface="Maiandra GD" panose="020E0502030308020204" pitchFamily="34" charset="0"/>
              </a:rPr>
              <a:t>	Likes prediction dataset (~5000 records)</a:t>
            </a:r>
            <a:endParaRPr lang="en-US" sz="1600" dirty="0">
              <a:solidFill>
                <a:schemeClr val="accent1">
                  <a:lumMod val="75000"/>
                </a:schemeClr>
              </a:solidFill>
              <a:latin typeface="Maiandra GD" panose="020E050203030802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27522" y="4415805"/>
            <a:ext cx="987929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 smtClean="0">
                <a:solidFill>
                  <a:schemeClr val="accent1">
                    <a:lumMod val="75000"/>
                  </a:schemeClr>
                </a:solidFill>
                <a:latin typeface="Maiandra GD" panose="020E0502030308020204" pitchFamily="34" charset="0"/>
              </a:rPr>
              <a:t>Tools and Libraries</a:t>
            </a:r>
          </a:p>
          <a:p>
            <a:pPr>
              <a:lnSpc>
                <a:spcPct val="150000"/>
              </a:lnSpc>
            </a:pPr>
            <a:r>
              <a:rPr lang="en-US" sz="1600" dirty="0" smtClean="0">
                <a:solidFill>
                  <a:schemeClr val="accent1">
                    <a:lumMod val="75000"/>
                  </a:schemeClr>
                </a:solidFill>
                <a:latin typeface="Maiandra GD" panose="020E0502030308020204" pitchFamily="34" charset="0"/>
              </a:rPr>
              <a:t>Python, Flask, Pandas, </a:t>
            </a:r>
            <a:r>
              <a:rPr lang="en-US" sz="1600" dirty="0" err="1" smtClean="0">
                <a:solidFill>
                  <a:schemeClr val="accent1">
                    <a:lumMod val="75000"/>
                  </a:schemeClr>
                </a:solidFill>
                <a:latin typeface="Maiandra GD" panose="020E0502030308020204" pitchFamily="34" charset="0"/>
              </a:rPr>
              <a:t>NumPy</a:t>
            </a:r>
            <a:r>
              <a:rPr lang="en-US" sz="1600" dirty="0" smtClean="0">
                <a:solidFill>
                  <a:schemeClr val="accent1">
                    <a:lumMod val="75000"/>
                  </a:schemeClr>
                </a:solidFill>
                <a:latin typeface="Maiandra GD" panose="020E0502030308020204" pitchFamily="34" charset="0"/>
              </a:rPr>
              <a:t>, </a:t>
            </a:r>
            <a:r>
              <a:rPr lang="en-US" sz="1600" dirty="0" err="1" smtClean="0">
                <a:solidFill>
                  <a:schemeClr val="accent1">
                    <a:lumMod val="75000"/>
                  </a:schemeClr>
                </a:solidFill>
                <a:latin typeface="Maiandra GD" panose="020E0502030308020204" pitchFamily="34" charset="0"/>
              </a:rPr>
              <a:t>Scikit</a:t>
            </a:r>
            <a:r>
              <a:rPr lang="en-US" sz="1600" dirty="0" smtClean="0">
                <a:solidFill>
                  <a:schemeClr val="accent1">
                    <a:lumMod val="75000"/>
                  </a:schemeClr>
                </a:solidFill>
                <a:latin typeface="Maiandra GD" panose="020E0502030308020204" pitchFamily="34" charset="0"/>
              </a:rPr>
              <a:t>-learn, Random Forest, Gradient Boosting, </a:t>
            </a:r>
            <a:r>
              <a:rPr lang="en-US" sz="1600" dirty="0" err="1" smtClean="0">
                <a:solidFill>
                  <a:schemeClr val="accent1">
                    <a:lumMod val="75000"/>
                  </a:schemeClr>
                </a:solidFill>
                <a:latin typeface="Maiandra GD" panose="020E0502030308020204" pitchFamily="34" charset="0"/>
              </a:rPr>
              <a:t>XGBoost</a:t>
            </a:r>
            <a:r>
              <a:rPr lang="en-US" sz="1600" dirty="0" smtClean="0">
                <a:solidFill>
                  <a:schemeClr val="accent1">
                    <a:lumMod val="75000"/>
                  </a:schemeClr>
                </a:solidFill>
                <a:latin typeface="Maiandra GD" panose="020E0502030308020204" pitchFamily="34" charset="0"/>
              </a:rPr>
              <a:t>, </a:t>
            </a:r>
            <a:r>
              <a:rPr lang="en-US" sz="1600" dirty="0" err="1" smtClean="0">
                <a:solidFill>
                  <a:schemeClr val="accent1">
                    <a:lumMod val="75000"/>
                  </a:schemeClr>
                </a:solidFill>
                <a:latin typeface="Maiandra GD" panose="020E0502030308020204" pitchFamily="34" charset="0"/>
              </a:rPr>
              <a:t>LightGBM</a:t>
            </a:r>
            <a:r>
              <a:rPr lang="en-US" sz="1600" dirty="0" smtClean="0">
                <a:solidFill>
                  <a:schemeClr val="accent1">
                    <a:lumMod val="75000"/>
                  </a:schemeClr>
                </a:solidFill>
                <a:latin typeface="Maiandra GD" panose="020E0502030308020204" pitchFamily="34" charset="0"/>
              </a:rPr>
              <a:t>, </a:t>
            </a:r>
            <a:r>
              <a:rPr lang="en-US" sz="1600" dirty="0" err="1" smtClean="0">
                <a:solidFill>
                  <a:schemeClr val="accent1">
                    <a:lumMod val="75000"/>
                  </a:schemeClr>
                </a:solidFill>
                <a:latin typeface="Maiandra GD" panose="020E0502030308020204" pitchFamily="34" charset="0"/>
              </a:rPr>
              <a:t>Matplotlib</a:t>
            </a:r>
            <a:r>
              <a:rPr lang="en-US" sz="1600" dirty="0" smtClean="0">
                <a:solidFill>
                  <a:schemeClr val="accent1">
                    <a:lumMod val="75000"/>
                  </a:schemeClr>
                </a:solidFill>
                <a:latin typeface="Maiandra GD" panose="020E0502030308020204" pitchFamily="34" charset="0"/>
              </a:rPr>
              <a:t>, </a:t>
            </a:r>
            <a:r>
              <a:rPr lang="en-US" sz="1600" dirty="0" err="1" smtClean="0">
                <a:solidFill>
                  <a:schemeClr val="accent1">
                    <a:lumMod val="75000"/>
                  </a:schemeClr>
                </a:solidFill>
                <a:latin typeface="Maiandra GD" panose="020E0502030308020204" pitchFamily="34" charset="0"/>
              </a:rPr>
              <a:t>Plotly</a:t>
            </a:r>
            <a:endParaRPr lang="en-US" sz="1600" dirty="0">
              <a:solidFill>
                <a:schemeClr val="accent1">
                  <a:lumMod val="75000"/>
                </a:schemeClr>
              </a:solidFill>
              <a:latin typeface="Maiandra GD" panose="020E0502030308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0214133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32297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90512" y="671660"/>
            <a:ext cx="10751271" cy="551468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857835" y="855482"/>
            <a:ext cx="10416619" cy="514703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1055799" y="1074655"/>
            <a:ext cx="1002069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b="1" dirty="0" smtClean="0">
                <a:solidFill>
                  <a:schemeClr val="accent1">
                    <a:lumMod val="75000"/>
                  </a:schemeClr>
                </a:solidFill>
                <a:latin typeface="Maiandra GD" panose="020E0502030308020204" pitchFamily="34" charset="0"/>
              </a:rPr>
              <a:t>DATA PRE-PROCESSING</a:t>
            </a:r>
            <a:endParaRPr lang="en-US" sz="5400" b="1" dirty="0">
              <a:solidFill>
                <a:schemeClr val="accent1">
                  <a:lumMod val="75000"/>
                </a:schemeClr>
              </a:solidFill>
              <a:latin typeface="Maiandra GD" panose="020E050203030802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55799" y="2217158"/>
            <a:ext cx="10020693" cy="3078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 smtClean="0">
                <a:solidFill>
                  <a:schemeClr val="accent1">
                    <a:lumMod val="75000"/>
                  </a:schemeClr>
                </a:solidFill>
                <a:latin typeface="Maiandra GD" panose="020E0502030308020204" pitchFamily="34" charset="0"/>
              </a:rPr>
              <a:t>Removal of duplicate records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 smtClean="0">
                <a:solidFill>
                  <a:schemeClr val="accent1">
                    <a:lumMod val="75000"/>
                  </a:schemeClr>
                </a:solidFill>
                <a:latin typeface="Maiandra GD" panose="020E0502030308020204" pitchFamily="34" charset="0"/>
              </a:rPr>
              <a:t>Handling missing values using median imputation and row removal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 smtClean="0">
                <a:solidFill>
                  <a:schemeClr val="accent1">
                    <a:lumMod val="75000"/>
                  </a:schemeClr>
                </a:solidFill>
                <a:latin typeface="Maiandra GD" panose="020E0502030308020204" pitchFamily="34" charset="0"/>
              </a:rPr>
              <a:t>Outlier treatment for highly skewed data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 smtClean="0">
                <a:solidFill>
                  <a:schemeClr val="accent1">
                    <a:lumMod val="75000"/>
                  </a:schemeClr>
                </a:solidFill>
                <a:latin typeface="Maiandra GD" panose="020E0502030308020204" pitchFamily="34" charset="0"/>
              </a:rPr>
              <a:t>Log and Yeo-Johnson transformations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 smtClean="0">
                <a:solidFill>
                  <a:schemeClr val="accent1">
                    <a:lumMod val="75000"/>
                  </a:schemeClr>
                </a:solidFill>
                <a:latin typeface="Maiandra GD" panose="020E0502030308020204" pitchFamily="34" charset="0"/>
              </a:rPr>
              <a:t>Encoding categorical variables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 smtClean="0">
                <a:solidFill>
                  <a:schemeClr val="accent1">
                    <a:lumMod val="75000"/>
                  </a:schemeClr>
                </a:solidFill>
                <a:latin typeface="Maiandra GD" panose="020E0502030308020204" pitchFamily="34" charset="0"/>
              </a:rPr>
              <a:t>Feature engineering for time-based and content-based attributes</a:t>
            </a:r>
            <a:endParaRPr lang="en-US" sz="2200" dirty="0">
              <a:solidFill>
                <a:schemeClr val="accent1">
                  <a:lumMod val="75000"/>
                </a:schemeClr>
              </a:solidFill>
              <a:latin typeface="Maiandra GD" panose="020E0502030308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9134991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32297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90512" y="671660"/>
            <a:ext cx="10751271" cy="551468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857837" y="855482"/>
            <a:ext cx="10416619" cy="514703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1178348" y="1084082"/>
            <a:ext cx="977559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b="1" dirty="0" smtClean="0">
                <a:solidFill>
                  <a:schemeClr val="accent1">
                    <a:lumMod val="75000"/>
                  </a:schemeClr>
                </a:solidFill>
                <a:latin typeface="Maiandra GD" panose="020E0502030308020204" pitchFamily="34" charset="0"/>
              </a:rPr>
              <a:t>SYSTEM MODULES</a:t>
            </a:r>
            <a:endParaRPr lang="en-US" sz="5400" b="1" dirty="0">
              <a:solidFill>
                <a:schemeClr val="accent1">
                  <a:lumMod val="75000"/>
                </a:schemeClr>
              </a:solidFill>
              <a:latin typeface="Maiandra GD" panose="020E050203030802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703217" y="2310470"/>
            <a:ext cx="5344997" cy="27964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 err="1" smtClean="0">
                <a:solidFill>
                  <a:schemeClr val="accent1">
                    <a:lumMod val="75000"/>
                  </a:schemeClr>
                </a:solidFill>
                <a:latin typeface="Maiandra GD" panose="020E0502030308020204" pitchFamily="34" charset="0"/>
              </a:rPr>
              <a:t>Chatbot</a:t>
            </a:r>
            <a:r>
              <a:rPr lang="en-US" sz="2400" dirty="0" smtClean="0">
                <a:solidFill>
                  <a:schemeClr val="accent1">
                    <a:lumMod val="75000"/>
                  </a:schemeClr>
                </a:solidFill>
                <a:latin typeface="Maiandra GD" panose="020E0502030308020204" pitchFamily="34" charset="0"/>
              </a:rPr>
              <a:t> Module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 smtClean="0">
                <a:solidFill>
                  <a:schemeClr val="accent1">
                    <a:lumMod val="75000"/>
                  </a:schemeClr>
                </a:solidFill>
                <a:latin typeface="Maiandra GD" panose="020E0502030308020204" pitchFamily="34" charset="0"/>
              </a:rPr>
              <a:t>Views Prediction Module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 smtClean="0">
                <a:solidFill>
                  <a:schemeClr val="accent1">
                    <a:lumMod val="75000"/>
                  </a:schemeClr>
                </a:solidFill>
                <a:latin typeface="Maiandra GD" panose="020E0502030308020204" pitchFamily="34" charset="0"/>
              </a:rPr>
              <a:t>Likes Prediction Module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 smtClean="0">
                <a:solidFill>
                  <a:schemeClr val="accent1">
                    <a:lumMod val="75000"/>
                  </a:schemeClr>
                </a:solidFill>
                <a:latin typeface="Maiandra GD" panose="020E0502030308020204" pitchFamily="34" charset="0"/>
              </a:rPr>
              <a:t>Hashtag Recommendation Module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 smtClean="0">
                <a:solidFill>
                  <a:schemeClr val="accent1">
                    <a:lumMod val="75000"/>
                  </a:schemeClr>
                </a:solidFill>
                <a:latin typeface="Maiandra GD" panose="020E0502030308020204" pitchFamily="34" charset="0"/>
              </a:rPr>
              <a:t>Show Insights Module</a:t>
            </a:r>
            <a:endParaRPr lang="en-US" sz="2400" dirty="0">
              <a:solidFill>
                <a:schemeClr val="accent1">
                  <a:lumMod val="75000"/>
                </a:schemeClr>
              </a:solidFill>
              <a:latin typeface="Maiandra GD" panose="020E0502030308020204" pitchFamily="34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4081" y="2117948"/>
            <a:ext cx="4392893" cy="3293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3689105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32297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90512" y="671660"/>
            <a:ext cx="10751271" cy="551468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857837" y="855482"/>
            <a:ext cx="10416619" cy="514703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1164208" y="1131217"/>
            <a:ext cx="980387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b="1" dirty="0" smtClean="0">
                <a:solidFill>
                  <a:schemeClr val="accent1">
                    <a:lumMod val="75000"/>
                  </a:schemeClr>
                </a:solidFill>
                <a:latin typeface="Maiandra GD" panose="020E0502030308020204" pitchFamily="34" charset="0"/>
              </a:rPr>
              <a:t>VIEWS PREDICTION</a:t>
            </a:r>
            <a:endParaRPr lang="en-US" sz="5400" b="1" dirty="0">
              <a:solidFill>
                <a:schemeClr val="accent1">
                  <a:lumMod val="75000"/>
                </a:schemeClr>
              </a:solidFill>
              <a:latin typeface="Maiandra GD" panose="020E050203030802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241303" y="2158738"/>
            <a:ext cx="5726781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chemeClr val="accent1">
                    <a:lumMod val="75000"/>
                  </a:schemeClr>
                </a:solidFill>
                <a:latin typeface="Maiandra GD" panose="020E0502030308020204" pitchFamily="34" charset="0"/>
              </a:rPr>
              <a:t>Predicts expected views for a video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chemeClr val="accent1">
                    <a:lumMod val="75000"/>
                  </a:schemeClr>
                </a:solidFill>
                <a:latin typeface="Maiandra GD" panose="020E0502030308020204" pitchFamily="34" charset="0"/>
              </a:rPr>
              <a:t> Uses multiple machine learning models:</a:t>
            </a:r>
          </a:p>
          <a:p>
            <a:pPr>
              <a:lnSpc>
                <a:spcPct val="150000"/>
              </a:lnSpc>
            </a:pPr>
            <a:r>
              <a:rPr lang="en-US" dirty="0" smtClean="0">
                <a:solidFill>
                  <a:schemeClr val="accent1">
                    <a:lumMod val="75000"/>
                  </a:schemeClr>
                </a:solidFill>
                <a:latin typeface="Maiandra GD" panose="020E0502030308020204" pitchFamily="34" charset="0"/>
              </a:rPr>
              <a:t>	Random Forest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Maiandra GD" panose="020E0502030308020204" pitchFamily="34" charset="0"/>
              </a:rPr>
              <a:t>	</a:t>
            </a:r>
            <a:r>
              <a:rPr lang="en-US" dirty="0" smtClean="0">
                <a:solidFill>
                  <a:schemeClr val="accent1">
                    <a:lumMod val="75000"/>
                  </a:schemeClr>
                </a:solidFill>
                <a:latin typeface="Maiandra GD" panose="020E0502030308020204" pitchFamily="34" charset="0"/>
              </a:rPr>
              <a:t>Gradient Boosting 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Maiandra GD" panose="020E0502030308020204" pitchFamily="34" charset="0"/>
              </a:rPr>
              <a:t>	</a:t>
            </a:r>
            <a:r>
              <a:rPr lang="en-US" dirty="0" err="1" smtClean="0">
                <a:solidFill>
                  <a:schemeClr val="accent1">
                    <a:lumMod val="75000"/>
                  </a:schemeClr>
                </a:solidFill>
                <a:latin typeface="Maiandra GD" panose="020E0502030308020204" pitchFamily="34" charset="0"/>
              </a:rPr>
              <a:t>XGBoostLight</a:t>
            </a:r>
            <a:endParaRPr lang="en-US" dirty="0" smtClean="0">
              <a:solidFill>
                <a:schemeClr val="accent1">
                  <a:lumMod val="75000"/>
                </a:schemeClr>
              </a:solidFill>
              <a:latin typeface="Maiandra GD" panose="020E0502030308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Maiandra GD" panose="020E0502030308020204" pitchFamily="34" charset="0"/>
              </a:rPr>
              <a:t>	</a:t>
            </a:r>
            <a:r>
              <a:rPr lang="en-US" dirty="0" smtClean="0">
                <a:solidFill>
                  <a:schemeClr val="accent1">
                    <a:lumMod val="75000"/>
                  </a:schemeClr>
                </a:solidFill>
                <a:latin typeface="Maiandra GD" panose="020E0502030308020204" pitchFamily="34" charset="0"/>
              </a:rPr>
              <a:t>GBM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chemeClr val="accent1">
                    <a:lumMod val="75000"/>
                  </a:schemeClr>
                </a:solidFill>
                <a:latin typeface="Maiandra GD" panose="020E0502030308020204" pitchFamily="34" charset="0"/>
              </a:rPr>
              <a:t>Allows users to select models based on accuracy, speed, and stability</a:t>
            </a:r>
            <a:endParaRPr lang="en-US" dirty="0">
              <a:solidFill>
                <a:schemeClr val="accent1">
                  <a:lumMod val="75000"/>
                </a:schemeClr>
              </a:solidFill>
              <a:latin typeface="Maiandra GD" panose="020E0502030308020204" pitchFamily="34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3130" y="2238369"/>
            <a:ext cx="3152916" cy="2844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6390759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32297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90512" y="671660"/>
            <a:ext cx="10751271" cy="551468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857837" y="855482"/>
            <a:ext cx="10416619" cy="514703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1112363" y="1102936"/>
            <a:ext cx="995470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b="1" dirty="0" smtClean="0">
                <a:solidFill>
                  <a:schemeClr val="accent1">
                    <a:lumMod val="75000"/>
                  </a:schemeClr>
                </a:solidFill>
                <a:latin typeface="Maiandra GD" panose="020E0502030308020204" pitchFamily="34" charset="0"/>
              </a:rPr>
              <a:t>LIKES PREDICTION</a:t>
            </a:r>
            <a:endParaRPr lang="en-US" sz="5400" b="1" dirty="0">
              <a:solidFill>
                <a:schemeClr val="accent1">
                  <a:lumMod val="75000"/>
                </a:schemeClr>
              </a:solidFill>
              <a:latin typeface="Maiandra GD" panose="020E050203030802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707453" y="2158155"/>
            <a:ext cx="5213022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smtClean="0">
                <a:solidFill>
                  <a:schemeClr val="accent1">
                    <a:lumMod val="75000"/>
                  </a:schemeClr>
                </a:solidFill>
                <a:latin typeface="Maiandra GD" panose="020E0502030308020204" pitchFamily="34" charset="0"/>
              </a:rPr>
              <a:t>Predicts the number of likes using early engagement metrics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smtClean="0">
                <a:solidFill>
                  <a:schemeClr val="accent1">
                    <a:lumMod val="75000"/>
                  </a:schemeClr>
                </a:solidFill>
                <a:latin typeface="Maiandra GD" panose="020E0502030308020204" pitchFamily="34" charset="0"/>
              </a:rPr>
              <a:t>Features include views in the first hour, dislikes in the first hour, comments in the first hour, category, and description length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smtClean="0">
                <a:solidFill>
                  <a:schemeClr val="accent1">
                    <a:lumMod val="75000"/>
                  </a:schemeClr>
                </a:solidFill>
                <a:latin typeface="Maiandra GD" panose="020E0502030308020204" pitchFamily="34" charset="0"/>
              </a:rPr>
              <a:t>Implemented using Random Forest </a:t>
            </a:r>
            <a:r>
              <a:rPr lang="en-US" sz="2000" dirty="0" err="1" smtClean="0">
                <a:solidFill>
                  <a:schemeClr val="accent1">
                    <a:lumMod val="75000"/>
                  </a:schemeClr>
                </a:solidFill>
                <a:latin typeface="Maiandra GD" panose="020E0502030308020204" pitchFamily="34" charset="0"/>
              </a:rPr>
              <a:t>Regressor</a:t>
            </a:r>
            <a:endParaRPr lang="en-US" sz="2000" dirty="0">
              <a:solidFill>
                <a:schemeClr val="accent1">
                  <a:lumMod val="75000"/>
                </a:schemeClr>
              </a:solidFill>
              <a:latin typeface="Maiandra GD" panose="020E0502030308020204" pitchFamily="34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4080" y="2210088"/>
            <a:ext cx="3759393" cy="3035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1623960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32297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90512" y="671660"/>
            <a:ext cx="10751271" cy="551468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857837" y="855482"/>
            <a:ext cx="10416619" cy="514703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1102936" y="1102936"/>
            <a:ext cx="989814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 smtClean="0">
                <a:solidFill>
                  <a:schemeClr val="accent1">
                    <a:lumMod val="75000"/>
                  </a:schemeClr>
                </a:solidFill>
                <a:latin typeface="Maiandra GD" panose="020E0502030308020204" pitchFamily="34" charset="0"/>
              </a:rPr>
              <a:t>HASHTAG RECOMMENDATION</a:t>
            </a:r>
            <a:endParaRPr lang="en-US" sz="4800" b="1" dirty="0">
              <a:solidFill>
                <a:schemeClr val="accent1">
                  <a:lumMod val="75000"/>
                </a:schemeClr>
              </a:solidFill>
              <a:latin typeface="Maiandra GD" panose="020E050203030802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448693" y="2158738"/>
            <a:ext cx="5467546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 smtClean="0">
                <a:solidFill>
                  <a:schemeClr val="accent1">
                    <a:lumMod val="75000"/>
                  </a:schemeClr>
                </a:solidFill>
                <a:latin typeface="Maiandra GD" panose="020E0502030308020204" pitchFamily="34" charset="0"/>
              </a:rPr>
              <a:t>Dictionary-based keyword matching approach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 smtClean="0">
                <a:solidFill>
                  <a:schemeClr val="accent1">
                    <a:lumMod val="75000"/>
                  </a:schemeClr>
                </a:solidFill>
                <a:latin typeface="Maiandra GD" panose="020E0502030308020204" pitchFamily="34" charset="0"/>
              </a:rPr>
              <a:t>Uses video title and category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 smtClean="0">
                <a:solidFill>
                  <a:schemeClr val="accent1">
                    <a:lumMod val="75000"/>
                  </a:schemeClr>
                </a:solidFill>
                <a:latin typeface="Maiandra GD" panose="020E0502030308020204" pitchFamily="34" charset="0"/>
              </a:rPr>
              <a:t>Suggests relevant hashtags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 smtClean="0">
                <a:solidFill>
                  <a:schemeClr val="accent1">
                    <a:lumMod val="75000"/>
                  </a:schemeClr>
                </a:solidFill>
                <a:latin typeface="Maiandra GD" panose="020E0502030308020204" pitchFamily="34" charset="0"/>
              </a:rPr>
              <a:t>Improves video discoverability and reach</a:t>
            </a:r>
            <a:endParaRPr lang="en-US" sz="2400" dirty="0">
              <a:solidFill>
                <a:schemeClr val="accent1">
                  <a:lumMod val="75000"/>
                </a:schemeClr>
              </a:solidFill>
              <a:latin typeface="Maiandra GD" panose="020E0502030308020204" pitchFamily="34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796" y="2181387"/>
            <a:ext cx="3756570" cy="31016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3964992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32297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90512" y="671660"/>
            <a:ext cx="10751271" cy="551468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857837" y="855482"/>
            <a:ext cx="10416619" cy="514703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1084082" y="1074656"/>
            <a:ext cx="990757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b="1" dirty="0" smtClean="0">
                <a:solidFill>
                  <a:schemeClr val="accent1">
                    <a:lumMod val="75000"/>
                  </a:schemeClr>
                </a:solidFill>
                <a:latin typeface="Maiandra GD" panose="020E0502030308020204" pitchFamily="34" charset="0"/>
              </a:rPr>
              <a:t>SHOW INSIGHTS</a:t>
            </a:r>
            <a:endParaRPr lang="en-US" sz="5400" b="1" dirty="0">
              <a:solidFill>
                <a:schemeClr val="accent1">
                  <a:lumMod val="75000"/>
                </a:schemeClr>
              </a:solidFill>
              <a:latin typeface="Maiandra GD" panose="020E050203030802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882326" y="2149311"/>
            <a:ext cx="5109328" cy="35868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 smtClean="0">
                <a:solidFill>
                  <a:schemeClr val="accent1">
                    <a:lumMod val="75000"/>
                  </a:schemeClr>
                </a:solidFill>
                <a:latin typeface="Maiandra GD" panose="020E0502030308020204" pitchFamily="34" charset="0"/>
              </a:rPr>
              <a:t>Best time to upload videos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 smtClean="0">
                <a:solidFill>
                  <a:schemeClr val="accent1">
                    <a:lumMod val="75000"/>
                  </a:schemeClr>
                </a:solidFill>
                <a:latin typeface="Maiandra GD" panose="020E0502030308020204" pitchFamily="34" charset="0"/>
              </a:rPr>
              <a:t>Average views by hour and day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 smtClean="0">
                <a:solidFill>
                  <a:schemeClr val="accent1">
                    <a:lumMod val="75000"/>
                  </a:schemeClr>
                </a:solidFill>
                <a:latin typeface="Maiandra GD" panose="020E0502030308020204" pitchFamily="34" charset="0"/>
              </a:rPr>
              <a:t>Engagement breakdown (views, likes, comments)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 smtClean="0">
                <a:solidFill>
                  <a:schemeClr val="accent1">
                    <a:lumMod val="75000"/>
                  </a:schemeClr>
                </a:solidFill>
                <a:latin typeface="Maiandra GD" panose="020E0502030308020204" pitchFamily="34" charset="0"/>
              </a:rPr>
              <a:t>Model comparison analysis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 smtClean="0">
                <a:solidFill>
                  <a:schemeClr val="accent1">
                    <a:lumMod val="75000"/>
                  </a:schemeClr>
                </a:solidFill>
                <a:latin typeface="Maiandra GD" panose="020E0502030308020204" pitchFamily="34" charset="0"/>
              </a:rPr>
              <a:t>Visualized using </a:t>
            </a:r>
            <a:r>
              <a:rPr lang="en-US" sz="2200" dirty="0" err="1" smtClean="0">
                <a:solidFill>
                  <a:schemeClr val="accent1">
                    <a:lumMod val="75000"/>
                  </a:schemeClr>
                </a:solidFill>
                <a:latin typeface="Maiandra GD" panose="020E0502030308020204" pitchFamily="34" charset="0"/>
              </a:rPr>
              <a:t>Matplotlib</a:t>
            </a:r>
            <a:r>
              <a:rPr lang="en-US" sz="2200" dirty="0" smtClean="0">
                <a:solidFill>
                  <a:schemeClr val="accent1">
                    <a:lumMod val="75000"/>
                  </a:schemeClr>
                </a:solidFill>
                <a:latin typeface="Maiandra GD" panose="020E0502030308020204" pitchFamily="34" charset="0"/>
              </a:rPr>
              <a:t> and </a:t>
            </a:r>
            <a:r>
              <a:rPr lang="en-US" sz="2200" dirty="0" err="1" smtClean="0">
                <a:solidFill>
                  <a:schemeClr val="accent1">
                    <a:lumMod val="75000"/>
                  </a:schemeClr>
                </a:solidFill>
                <a:latin typeface="Maiandra GD" panose="020E0502030308020204" pitchFamily="34" charset="0"/>
              </a:rPr>
              <a:t>Plotly</a:t>
            </a:r>
            <a:endParaRPr lang="en-US" sz="2200" dirty="0">
              <a:solidFill>
                <a:schemeClr val="accent1">
                  <a:lumMod val="75000"/>
                </a:schemeClr>
              </a:solidFill>
              <a:latin typeface="Maiandra GD" panose="020E0502030308020204" pitchFamily="34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3742" y="2149311"/>
            <a:ext cx="3492679" cy="3486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4511307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32297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90512" y="671660"/>
            <a:ext cx="10751271" cy="551468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857837" y="855482"/>
            <a:ext cx="10416619" cy="514703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1018095" y="1084082"/>
            <a:ext cx="996413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b="1" dirty="0" smtClean="0">
                <a:solidFill>
                  <a:schemeClr val="accent1">
                    <a:lumMod val="75000"/>
                  </a:schemeClr>
                </a:solidFill>
                <a:latin typeface="Maiandra GD" panose="020E0502030308020204" pitchFamily="34" charset="0"/>
              </a:rPr>
              <a:t>CONCLUSION</a:t>
            </a:r>
            <a:endParaRPr lang="en-US" sz="5400" b="1" dirty="0">
              <a:solidFill>
                <a:schemeClr val="accent1">
                  <a:lumMod val="75000"/>
                </a:schemeClr>
              </a:solidFill>
              <a:latin typeface="Maiandra GD" panose="020E050203030802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159497" y="2248985"/>
            <a:ext cx="982273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chemeClr val="accent1">
                    <a:lumMod val="75000"/>
                  </a:schemeClr>
                </a:solidFill>
                <a:latin typeface="Maiandra GD" panose="020E0502030308020204" pitchFamily="34" charset="0"/>
              </a:rPr>
              <a:t>The project demonstrates that machine learning techniques can effectively predict YouTube video popularity.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chemeClr val="accent1">
                    <a:lumMod val="75000"/>
                  </a:schemeClr>
                </a:solidFill>
                <a:latin typeface="Maiandra GD" panose="020E0502030308020204" pitchFamily="34" charset="0"/>
              </a:rPr>
              <a:t> The system helps content creators make informed decisions by providing predictions, hashtag recommendations, and analytical insights.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chemeClr val="accent1">
                    <a:lumMod val="75000"/>
                  </a:schemeClr>
                </a:solidFill>
                <a:latin typeface="Maiandra GD" panose="020E0502030308020204" pitchFamily="34" charset="0"/>
              </a:rPr>
              <a:t>It serves as a practical tool for data-driven content optimization.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chemeClr val="accent1">
                    <a:lumMod val="75000"/>
                  </a:schemeClr>
                </a:solidFill>
                <a:latin typeface="Maiandra GD" panose="020E0502030308020204" pitchFamily="34" charset="0"/>
              </a:rPr>
              <a:t>Multiple machine learning models provide flexibility in choosing accurate and efficient predictions.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chemeClr val="accent1">
                    <a:lumMod val="75000"/>
                  </a:schemeClr>
                </a:solidFill>
                <a:latin typeface="Maiandra GD" panose="020E0502030308020204" pitchFamily="34" charset="0"/>
              </a:rPr>
              <a:t>Visualization and </a:t>
            </a:r>
            <a:r>
              <a:rPr lang="en-US" dirty="0" err="1" smtClean="0">
                <a:solidFill>
                  <a:schemeClr val="accent1">
                    <a:lumMod val="75000"/>
                  </a:schemeClr>
                </a:solidFill>
                <a:latin typeface="Maiandra GD" panose="020E0502030308020204" pitchFamily="34" charset="0"/>
              </a:rPr>
              <a:t>chatbot</a:t>
            </a:r>
            <a:r>
              <a:rPr lang="en-US" dirty="0" smtClean="0">
                <a:solidFill>
                  <a:schemeClr val="accent1">
                    <a:lumMod val="75000"/>
                  </a:schemeClr>
                </a:solidFill>
                <a:latin typeface="Maiandra GD" panose="020E0502030308020204" pitchFamily="34" charset="0"/>
              </a:rPr>
              <a:t> features improve usability and support better content decisions.</a:t>
            </a:r>
            <a:endParaRPr lang="en-US" dirty="0">
              <a:solidFill>
                <a:schemeClr val="accent1">
                  <a:lumMod val="75000"/>
                </a:schemeClr>
              </a:solidFill>
              <a:latin typeface="Maiandra GD" panose="020E0502030308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8952874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32297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90512" y="671660"/>
            <a:ext cx="10751271" cy="551468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857837" y="855482"/>
            <a:ext cx="10416619" cy="514703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1036948" y="1065229"/>
            <a:ext cx="1000184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b="1" dirty="0" smtClean="0">
                <a:solidFill>
                  <a:schemeClr val="accent1">
                    <a:lumMod val="75000"/>
                  </a:schemeClr>
                </a:solidFill>
                <a:latin typeface="Maiandra GD" panose="020E0502030308020204" pitchFamily="34" charset="0"/>
              </a:rPr>
              <a:t>FUTURE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97202" y="2198306"/>
            <a:ext cx="9737888" cy="27964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 smtClean="0">
                <a:solidFill>
                  <a:schemeClr val="accent1">
                    <a:lumMod val="75000"/>
                  </a:schemeClr>
                </a:solidFill>
                <a:latin typeface="Maiandra GD" panose="020E0502030308020204" pitchFamily="34" charset="0"/>
              </a:rPr>
              <a:t>Integration of deep learning models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 smtClean="0">
                <a:solidFill>
                  <a:schemeClr val="accent1">
                    <a:lumMod val="75000"/>
                  </a:schemeClr>
                </a:solidFill>
                <a:latin typeface="Maiandra GD" panose="020E0502030308020204" pitchFamily="34" charset="0"/>
              </a:rPr>
              <a:t>Real-time data analysis and prediction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 smtClean="0">
                <a:solidFill>
                  <a:schemeClr val="accent1">
                    <a:lumMod val="75000"/>
                  </a:schemeClr>
                </a:solidFill>
                <a:latin typeface="Maiandra GD" panose="020E0502030308020204" pitchFamily="34" charset="0"/>
              </a:rPr>
              <a:t>Sentiment analysis of comments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 smtClean="0">
                <a:solidFill>
                  <a:schemeClr val="accent1">
                    <a:lumMod val="75000"/>
                  </a:schemeClr>
                </a:solidFill>
                <a:latin typeface="Maiandra GD" panose="020E0502030308020204" pitchFamily="34" charset="0"/>
              </a:rPr>
              <a:t>Thumbnail image analysis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 smtClean="0">
                <a:solidFill>
                  <a:schemeClr val="accent1">
                    <a:lumMod val="75000"/>
                  </a:schemeClr>
                </a:solidFill>
                <a:latin typeface="Maiandra GD" panose="020E0502030308020204" pitchFamily="34" charset="0"/>
              </a:rPr>
              <a:t>Cloud deployment for scalability</a:t>
            </a:r>
            <a:endParaRPr lang="en-US" sz="2400" dirty="0">
              <a:solidFill>
                <a:schemeClr val="accent1">
                  <a:lumMod val="75000"/>
                </a:schemeClr>
              </a:solidFill>
              <a:latin typeface="Maiandra GD" panose="020E0502030308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17220833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32297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90512" y="671660"/>
            <a:ext cx="10751271" cy="551468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857837" y="855482"/>
            <a:ext cx="10416619" cy="514703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9626" y="1412326"/>
            <a:ext cx="8173039" cy="4165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3376306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216</TotalTime>
  <Words>558</Words>
  <Application>Microsoft Office PowerPoint</Application>
  <PresentationFormat>Widescreen</PresentationFormat>
  <Paragraphs>109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Calibri</vt:lpstr>
      <vt:lpstr>Calibri Light</vt:lpstr>
      <vt:lpstr>Maiandra GD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HP</dc:creator>
  <cp:lastModifiedBy>admin</cp:lastModifiedBy>
  <cp:revision>34</cp:revision>
  <dcterms:created xsi:type="dcterms:W3CDTF">2026-02-07T16:56:08Z</dcterms:created>
  <dcterms:modified xsi:type="dcterms:W3CDTF">2026-07-19T11:56:27Z</dcterms:modified>
</cp:coreProperties>
</file>